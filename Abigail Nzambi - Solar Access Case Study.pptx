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Slab"/>
      <p:regular r:id="rId19"/>
      <p:bold r:id="rId20"/>
    </p:embeddedFont>
    <p:embeddedFont>
      <p:font typeface="Roboto"/>
      <p:regular r:id="rId21"/>
      <p:bold r:id="rId22"/>
      <p:italic r:id="rId23"/>
      <p:boldItalic r:id="rId24"/>
    </p:embeddedFont>
    <p:embeddedFont>
      <p:font typeface="Montserra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5C4C391-0B5C-46D8-8732-52E3E82FA15F}">
  <a:tblStyle styleId="{15C4C391-0B5C-46D8-8732-52E3E82FA15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Slab-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Slab-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37a78a261_0_49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d37a78a261_0_4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37a78a261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37a78a261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37a78a26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37a78a26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37a78a261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37a78a261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37a78a261_0_9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3d37a78a261_0_9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37a78a261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37a78a261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37a78a261_0_97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d37a78a261_0_9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37a78a261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37a78a261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37a78a261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37a78a261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37a78a261_0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37a78a261_0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37a78a261_0_96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d37a78a261_0_9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4"/>
        </a:solidFill>
      </p:bgPr>
    </p:bg>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6"/>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6"/>
            </a:solidFill>
            <a:prstDash val="solid"/>
            <a:miter lim="8000"/>
            <a:headEnd len="sm" w="sm" type="none"/>
            <a:tailEnd len="sm" w="sm" type="none"/>
          </a:ln>
        </p:spPr>
      </p:sp>
      <p:sp>
        <p:nvSpPr>
          <p:cNvPr id="12" name="Google Shape;12;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3" name="Google Shape;13;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15" name="Google Shape;15;p2"/>
          <p:cNvPicPr preferRelativeResize="0"/>
          <p:nvPr/>
        </p:nvPicPr>
        <p:blipFill>
          <a:blip r:embed="rId2">
            <a:alphaModFix/>
          </a:blip>
          <a:stretch>
            <a:fillRect/>
          </a:stretch>
        </p:blipFill>
        <p:spPr>
          <a:xfrm>
            <a:off x="7979750" y="0"/>
            <a:ext cx="1164250" cy="752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1"/>
        </a:solidFill>
      </p:bgPr>
    </p:bg>
    <p:spTree>
      <p:nvGrpSpPr>
        <p:cNvPr id="20" name="Shape 20"/>
        <p:cNvGrpSpPr/>
        <p:nvPr/>
      </p:nvGrpSpPr>
      <p:grpSpPr>
        <a:xfrm>
          <a:off x="0" y="0"/>
          <a:ext cx="0" cy="0"/>
          <a:chOff x="0" y="0"/>
          <a:chExt cx="0" cy="0"/>
        </a:xfrm>
      </p:grpSpPr>
      <p:sp>
        <p:nvSpPr>
          <p:cNvPr id="21" name="Google Shape;21;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24" name="Google Shape;24;p4"/>
          <p:cNvPicPr preferRelativeResize="0"/>
          <p:nvPr/>
        </p:nvPicPr>
        <p:blipFill>
          <a:blip r:embed="rId2">
            <a:alphaModFix/>
          </a:blip>
          <a:stretch>
            <a:fillRect/>
          </a:stretch>
        </p:blipFill>
        <p:spPr>
          <a:xfrm>
            <a:off x="7968800" y="0"/>
            <a:ext cx="1175200" cy="7598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4" showMasterSp="0">
  <p:cSld name="Divider 4">
    <p:bg>
      <p:bgPr>
        <a:solidFill>
          <a:schemeClr val="accent4"/>
        </a:solidFill>
      </p:bgPr>
    </p:bg>
    <p:spTree>
      <p:nvGrpSpPr>
        <p:cNvPr id="59" name="Shape 59"/>
        <p:cNvGrpSpPr/>
        <p:nvPr/>
      </p:nvGrpSpPr>
      <p:grpSpPr>
        <a:xfrm>
          <a:off x="0" y="0"/>
          <a:ext cx="0" cy="0"/>
          <a:chOff x="0" y="0"/>
          <a:chExt cx="0" cy="0"/>
        </a:xfrm>
      </p:grpSpPr>
      <p:sp>
        <p:nvSpPr>
          <p:cNvPr id="60" name="Google Shape;60;p13"/>
          <p:cNvSpPr txBox="1"/>
          <p:nvPr>
            <p:ph type="title"/>
          </p:nvPr>
        </p:nvSpPr>
        <p:spPr>
          <a:xfrm>
            <a:off x="285751" y="2857500"/>
            <a:ext cx="6286500" cy="1460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08084"/>
              </a:buClr>
              <a:buSzPts val="4500"/>
              <a:buFont typeface="Arial Black"/>
              <a:buNone/>
              <a:defRPr sz="4500">
                <a:solidFill>
                  <a:srgbClr val="008084"/>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grpSp>
        <p:nvGrpSpPr>
          <p:cNvPr id="61" name="Google Shape;61;p13"/>
          <p:cNvGrpSpPr/>
          <p:nvPr/>
        </p:nvGrpSpPr>
        <p:grpSpPr>
          <a:xfrm>
            <a:off x="979939" y="677320"/>
            <a:ext cx="7363974" cy="270000"/>
            <a:chOff x="1890252" y="820644"/>
            <a:chExt cx="9818632" cy="360000"/>
          </a:xfrm>
        </p:grpSpPr>
        <p:sp>
          <p:nvSpPr>
            <p:cNvPr id="62" name="Google Shape;62;p13"/>
            <p:cNvSpPr/>
            <p:nvPr/>
          </p:nvSpPr>
          <p:spPr>
            <a:xfrm>
              <a:off x="1890252" y="8206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63" name="Google Shape;63;p13"/>
            <p:cNvGrpSpPr/>
            <p:nvPr/>
          </p:nvGrpSpPr>
          <p:grpSpPr>
            <a:xfrm>
              <a:off x="2326437" y="928644"/>
              <a:ext cx="8927873" cy="144000"/>
              <a:chOff x="2326480" y="931837"/>
              <a:chExt cx="6835520" cy="144000"/>
            </a:xfrm>
          </p:grpSpPr>
          <p:sp>
            <p:nvSpPr>
              <p:cNvPr id="64" name="Google Shape;64;p13"/>
              <p:cNvSpPr/>
              <p:nvPr/>
            </p:nvSpPr>
            <p:spPr>
              <a:xfrm>
                <a:off x="2326480" y="931837"/>
                <a:ext cx="230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 name="Google Shape;65;p13"/>
              <p:cNvSpPr/>
              <p:nvPr/>
            </p:nvSpPr>
            <p:spPr>
              <a:xfrm>
                <a:off x="6858000" y="931837"/>
                <a:ext cx="230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 name="Google Shape;66;p13"/>
              <p:cNvSpPr/>
              <p:nvPr/>
            </p:nvSpPr>
            <p:spPr>
              <a:xfrm>
                <a:off x="4601497" y="931837"/>
                <a:ext cx="230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67" name="Google Shape;67;p13"/>
            <p:cNvSpPr/>
            <p:nvPr/>
          </p:nvSpPr>
          <p:spPr>
            <a:xfrm>
              <a:off x="11348884" y="8206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68" name="Google Shape;68;p13"/>
          <p:cNvGrpSpPr/>
          <p:nvPr/>
        </p:nvGrpSpPr>
        <p:grpSpPr>
          <a:xfrm>
            <a:off x="1423987" y="1619931"/>
            <a:ext cx="6284580" cy="270000"/>
            <a:chOff x="1890252" y="820644"/>
            <a:chExt cx="8379440" cy="360000"/>
          </a:xfrm>
        </p:grpSpPr>
        <p:sp>
          <p:nvSpPr>
            <p:cNvPr id="69" name="Google Shape;69;p13"/>
            <p:cNvSpPr/>
            <p:nvPr/>
          </p:nvSpPr>
          <p:spPr>
            <a:xfrm>
              <a:off x="1890252" y="8206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70" name="Google Shape;70;p13"/>
            <p:cNvGrpSpPr/>
            <p:nvPr/>
          </p:nvGrpSpPr>
          <p:grpSpPr>
            <a:xfrm>
              <a:off x="2326434" y="928644"/>
              <a:ext cx="7488710" cy="144000"/>
              <a:chOff x="2326480" y="931837"/>
              <a:chExt cx="5733642" cy="144000"/>
            </a:xfrm>
          </p:grpSpPr>
          <p:sp>
            <p:nvSpPr>
              <p:cNvPr id="71" name="Google Shape;71;p13"/>
              <p:cNvSpPr/>
              <p:nvPr/>
            </p:nvSpPr>
            <p:spPr>
              <a:xfrm>
                <a:off x="2326480" y="931837"/>
                <a:ext cx="230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 name="Google Shape;72;p13"/>
              <p:cNvSpPr/>
              <p:nvPr/>
            </p:nvSpPr>
            <p:spPr>
              <a:xfrm>
                <a:off x="5756122" y="931837"/>
                <a:ext cx="230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 name="Google Shape;73;p13"/>
              <p:cNvSpPr/>
              <p:nvPr/>
            </p:nvSpPr>
            <p:spPr>
              <a:xfrm>
                <a:off x="4601497" y="931837"/>
                <a:ext cx="230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74" name="Google Shape;74;p13"/>
            <p:cNvSpPr/>
            <p:nvPr/>
          </p:nvSpPr>
          <p:spPr>
            <a:xfrm>
              <a:off x="9909692" y="8206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5" name="Google Shape;75;p13"/>
          <p:cNvGrpSpPr/>
          <p:nvPr/>
        </p:nvGrpSpPr>
        <p:grpSpPr>
          <a:xfrm>
            <a:off x="-11059" y="274716"/>
            <a:ext cx="4572248" cy="270000"/>
            <a:chOff x="5764953" y="973044"/>
            <a:chExt cx="6096331" cy="360000"/>
          </a:xfrm>
        </p:grpSpPr>
        <p:sp>
          <p:nvSpPr>
            <p:cNvPr id="76" name="Google Shape;76;p13"/>
            <p:cNvSpPr/>
            <p:nvPr/>
          </p:nvSpPr>
          <p:spPr>
            <a:xfrm>
              <a:off x="8397583" y="1081044"/>
              <a:ext cx="30093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CC0000"/>
                </a:solidFill>
                <a:latin typeface="Arial"/>
                <a:ea typeface="Arial"/>
                <a:cs typeface="Arial"/>
                <a:sym typeface="Arial"/>
              </a:endParaRPr>
            </a:p>
          </p:txBody>
        </p:sp>
        <p:sp>
          <p:nvSpPr>
            <p:cNvPr id="77" name="Google Shape;77;p13"/>
            <p:cNvSpPr/>
            <p:nvPr/>
          </p:nvSpPr>
          <p:spPr>
            <a:xfrm>
              <a:off x="5764953" y="1081044"/>
              <a:ext cx="2772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CC0000"/>
                </a:solidFill>
                <a:latin typeface="Arial"/>
                <a:ea typeface="Arial"/>
                <a:cs typeface="Arial"/>
                <a:sym typeface="Arial"/>
              </a:endParaRPr>
            </a:p>
          </p:txBody>
        </p:sp>
        <p:sp>
          <p:nvSpPr>
            <p:cNvPr id="78" name="Google Shape;78;p13"/>
            <p:cNvSpPr/>
            <p:nvPr/>
          </p:nvSpPr>
          <p:spPr>
            <a:xfrm>
              <a:off x="11501284" y="9730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CC0000"/>
                </a:solidFill>
                <a:latin typeface="Arial"/>
                <a:ea typeface="Arial"/>
                <a:cs typeface="Arial"/>
                <a:sym typeface="Arial"/>
              </a:endParaRPr>
            </a:p>
          </p:txBody>
        </p:sp>
      </p:grpSp>
      <p:grpSp>
        <p:nvGrpSpPr>
          <p:cNvPr id="79" name="Google Shape;79;p13"/>
          <p:cNvGrpSpPr/>
          <p:nvPr/>
        </p:nvGrpSpPr>
        <p:grpSpPr>
          <a:xfrm>
            <a:off x="3689" y="1956235"/>
            <a:ext cx="4911461" cy="270000"/>
            <a:chOff x="5312670" y="973044"/>
            <a:chExt cx="6548614" cy="360000"/>
          </a:xfrm>
        </p:grpSpPr>
        <p:sp>
          <p:nvSpPr>
            <p:cNvPr id="80" name="Google Shape;80;p13"/>
            <p:cNvSpPr/>
            <p:nvPr/>
          </p:nvSpPr>
          <p:spPr>
            <a:xfrm>
              <a:off x="8397583" y="1081044"/>
              <a:ext cx="30093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 name="Google Shape;81;p13"/>
            <p:cNvSpPr/>
            <p:nvPr/>
          </p:nvSpPr>
          <p:spPr>
            <a:xfrm>
              <a:off x="5312670" y="1081044"/>
              <a:ext cx="3312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 name="Google Shape;82;p13"/>
            <p:cNvSpPr/>
            <p:nvPr/>
          </p:nvSpPr>
          <p:spPr>
            <a:xfrm>
              <a:off x="11501284" y="9730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83" name="Google Shape;83;p13"/>
          <p:cNvGrpSpPr/>
          <p:nvPr/>
        </p:nvGrpSpPr>
        <p:grpSpPr>
          <a:xfrm>
            <a:off x="3688" y="947324"/>
            <a:ext cx="3565670" cy="270000"/>
            <a:chOff x="7107057" y="973044"/>
            <a:chExt cx="4754227" cy="360000"/>
          </a:xfrm>
        </p:grpSpPr>
        <p:sp>
          <p:nvSpPr>
            <p:cNvPr id="84" name="Google Shape;84;p13"/>
            <p:cNvSpPr/>
            <p:nvPr/>
          </p:nvSpPr>
          <p:spPr>
            <a:xfrm>
              <a:off x="8397583" y="1081044"/>
              <a:ext cx="30093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 name="Google Shape;85;p13"/>
            <p:cNvSpPr/>
            <p:nvPr/>
          </p:nvSpPr>
          <p:spPr>
            <a:xfrm>
              <a:off x="7107057" y="1081044"/>
              <a:ext cx="2664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 name="Google Shape;86;p13"/>
            <p:cNvSpPr/>
            <p:nvPr/>
          </p:nvSpPr>
          <p:spPr>
            <a:xfrm>
              <a:off x="11501284" y="9730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87" name="Google Shape;87;p13"/>
          <p:cNvGrpSpPr/>
          <p:nvPr/>
        </p:nvGrpSpPr>
        <p:grpSpPr>
          <a:xfrm>
            <a:off x="0" y="1283627"/>
            <a:ext cx="6636502" cy="270000"/>
            <a:chOff x="0" y="1694831"/>
            <a:chExt cx="8848669" cy="360000"/>
          </a:xfrm>
        </p:grpSpPr>
        <p:grpSp>
          <p:nvGrpSpPr>
            <p:cNvPr id="88" name="Google Shape;88;p13"/>
            <p:cNvGrpSpPr/>
            <p:nvPr/>
          </p:nvGrpSpPr>
          <p:grpSpPr>
            <a:xfrm>
              <a:off x="5384968" y="1694831"/>
              <a:ext cx="3463701" cy="360000"/>
              <a:chOff x="8397583" y="973044"/>
              <a:chExt cx="3463701" cy="360000"/>
            </a:xfrm>
          </p:grpSpPr>
          <p:sp>
            <p:nvSpPr>
              <p:cNvPr id="89" name="Google Shape;89;p13"/>
              <p:cNvSpPr/>
              <p:nvPr/>
            </p:nvSpPr>
            <p:spPr>
              <a:xfrm>
                <a:off x="8397583" y="1081044"/>
                <a:ext cx="30093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 name="Google Shape;90;p13"/>
              <p:cNvSpPr/>
              <p:nvPr/>
            </p:nvSpPr>
            <p:spPr>
              <a:xfrm>
                <a:off x="11501284" y="973044"/>
                <a:ext cx="360000" cy="360000"/>
              </a:xfrm>
              <a:prstGeom prst="ellipse">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91" name="Google Shape;91;p13"/>
            <p:cNvSpPr/>
            <p:nvPr/>
          </p:nvSpPr>
          <p:spPr>
            <a:xfrm>
              <a:off x="0" y="1802831"/>
              <a:ext cx="6048000" cy="1440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pic>
        <p:nvPicPr>
          <p:cNvPr id="92" name="Google Shape;92;p13"/>
          <p:cNvPicPr preferRelativeResize="0"/>
          <p:nvPr/>
        </p:nvPicPr>
        <p:blipFill>
          <a:blip r:embed="rId2">
            <a:alphaModFix/>
          </a:blip>
          <a:stretch>
            <a:fillRect/>
          </a:stretch>
        </p:blipFill>
        <p:spPr>
          <a:xfrm>
            <a:off x="8096397" y="0"/>
            <a:ext cx="1047603" cy="6773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abigailnzambi/sunking_product_sales_payg_analysi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powercalc.c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docs.google.com/document/d/1VFXzNAk1-gm-FxzdD1iYBzME_J2Cg2JJ2N6Fo8YD4Vo/edit?tab=t.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nvSpPr>
        <p:spPr>
          <a:xfrm>
            <a:off x="1740350" y="790000"/>
            <a:ext cx="6203100" cy="151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4000">
                <a:solidFill>
                  <a:schemeClr val="accent6"/>
                </a:solidFill>
                <a:latin typeface="Montserrat"/>
                <a:ea typeface="Montserrat"/>
                <a:cs typeface="Montserrat"/>
                <a:sym typeface="Montserrat"/>
              </a:rPr>
              <a:t>Solar Access Case Study</a:t>
            </a:r>
            <a:endParaRPr sz="1800">
              <a:solidFill>
                <a:schemeClr val="dk1"/>
              </a:solidFill>
              <a:latin typeface="Roboto"/>
              <a:ea typeface="Roboto"/>
              <a:cs typeface="Roboto"/>
              <a:sym typeface="Roboto"/>
            </a:endParaRPr>
          </a:p>
        </p:txBody>
      </p:sp>
      <p:sp>
        <p:nvSpPr>
          <p:cNvPr id="98" name="Google Shape;98;p14"/>
          <p:cNvSpPr txBox="1"/>
          <p:nvPr/>
        </p:nvSpPr>
        <p:spPr>
          <a:xfrm>
            <a:off x="1660950" y="2409225"/>
            <a:ext cx="5822100" cy="126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700">
                <a:solidFill>
                  <a:schemeClr val="accent6"/>
                </a:solidFill>
                <a:latin typeface="Montserrat"/>
                <a:ea typeface="Montserrat"/>
                <a:cs typeface="Montserrat"/>
                <a:sym typeface="Montserrat"/>
              </a:rPr>
              <a:t>Objective:</a:t>
            </a:r>
            <a:endParaRPr sz="1700">
              <a:solidFill>
                <a:schemeClr val="accent6"/>
              </a:solidFill>
              <a:latin typeface="Montserrat"/>
              <a:ea typeface="Montserrat"/>
              <a:cs typeface="Montserrat"/>
              <a:sym typeface="Montserrat"/>
            </a:endParaRPr>
          </a:p>
          <a:p>
            <a:pPr indent="0" lvl="0" marL="0" rtl="0" algn="ctr">
              <a:spcBef>
                <a:spcPts val="0"/>
              </a:spcBef>
              <a:spcAft>
                <a:spcPts val="0"/>
              </a:spcAft>
              <a:buNone/>
            </a:pPr>
            <a:r>
              <a:rPr lang="en-GB" sz="1700">
                <a:solidFill>
                  <a:schemeClr val="accent6"/>
                </a:solidFill>
                <a:latin typeface="Montserrat"/>
                <a:ea typeface="Montserrat"/>
                <a:cs typeface="Montserrat"/>
                <a:sym typeface="Montserrat"/>
              </a:rPr>
              <a:t>To evaluate sales performance, product dynamics, and repayment behavior across Area A and Area B.</a:t>
            </a:r>
            <a:endParaRPr sz="1700">
              <a:solidFill>
                <a:schemeClr val="accent6"/>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
        <p:nvSpPr>
          <p:cNvPr id="99" name="Google Shape;99;p14"/>
          <p:cNvSpPr txBox="1"/>
          <p:nvPr/>
        </p:nvSpPr>
        <p:spPr>
          <a:xfrm>
            <a:off x="2226500" y="3777950"/>
            <a:ext cx="43815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u="sng">
                <a:solidFill>
                  <a:schemeClr val="accent6"/>
                </a:solidFill>
                <a:latin typeface="Montserrat"/>
                <a:ea typeface="Montserrat"/>
                <a:cs typeface="Montserrat"/>
                <a:sym typeface="Montserrat"/>
                <a:hlinkClick r:id="rId3">
                  <a:extLst>
                    <a:ext uri="{A12FA001-AC4F-418D-AE19-62706E023703}">
                      <ahyp:hlinkClr val="tx"/>
                    </a:ext>
                  </a:extLst>
                </a:hlinkClick>
              </a:rPr>
              <a:t>github repository</a:t>
            </a:r>
            <a:endParaRPr sz="1500">
              <a:solidFill>
                <a:schemeClr val="accent6"/>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285751" y="2857500"/>
            <a:ext cx="6286500" cy="1460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4500"/>
              <a:buFont typeface="Arial Black"/>
              <a:buNone/>
            </a:pPr>
            <a:r>
              <a:rPr lang="en-GB" sz="3600">
                <a:solidFill>
                  <a:schemeClr val="accent6"/>
                </a:solidFill>
                <a:latin typeface="Montserrat"/>
                <a:ea typeface="Montserrat"/>
                <a:cs typeface="Montserrat"/>
                <a:sym typeface="Montserrat"/>
              </a:rPr>
              <a:t>Exploratory Data Analysis</a:t>
            </a:r>
            <a:endParaRPr sz="3600">
              <a:solidFill>
                <a:schemeClr val="accent6"/>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 name="Shape 108"/>
        <p:cNvGrpSpPr/>
        <p:nvPr/>
      </p:nvGrpSpPr>
      <p:grpSpPr>
        <a:xfrm>
          <a:off x="0" y="0"/>
          <a:ext cx="0" cy="0"/>
          <a:chOff x="0" y="0"/>
          <a:chExt cx="0" cy="0"/>
        </a:xfrm>
      </p:grpSpPr>
      <p:pic>
        <p:nvPicPr>
          <p:cNvPr id="109" name="Google Shape;109;p16"/>
          <p:cNvPicPr preferRelativeResize="0"/>
          <p:nvPr/>
        </p:nvPicPr>
        <p:blipFill>
          <a:blip r:embed="rId3">
            <a:alphaModFix/>
          </a:blip>
          <a:stretch>
            <a:fillRect/>
          </a:stretch>
        </p:blipFill>
        <p:spPr>
          <a:xfrm>
            <a:off x="4877304" y="1089713"/>
            <a:ext cx="4149694" cy="2964074"/>
          </a:xfrm>
          <a:prstGeom prst="rect">
            <a:avLst/>
          </a:prstGeom>
          <a:noFill/>
          <a:ln>
            <a:noFill/>
          </a:ln>
        </p:spPr>
      </p:pic>
      <p:sp>
        <p:nvSpPr>
          <p:cNvPr id="110" name="Google Shape;110;p16"/>
          <p:cNvSpPr txBox="1"/>
          <p:nvPr/>
        </p:nvSpPr>
        <p:spPr>
          <a:xfrm>
            <a:off x="371150" y="801900"/>
            <a:ext cx="4429200" cy="40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600">
                <a:solidFill>
                  <a:schemeClr val="accent4"/>
                </a:solidFill>
                <a:latin typeface="Montserrat"/>
                <a:ea typeface="Montserrat"/>
                <a:cs typeface="Montserrat"/>
                <a:sym typeface="Montserrat"/>
              </a:rPr>
              <a:t>Between December 2023 and February 2024, a total of 3,842 units were sold across both areas. Area A accounted for the majority of sales, with 2,935 units (76.39%), while Area B recorded 907 units (23.61%). Based on these results, Sunking should </a:t>
            </a:r>
            <a:r>
              <a:rPr lang="en-GB" sz="1600">
                <a:solidFill>
                  <a:schemeClr val="accent4"/>
                </a:solidFill>
                <a:latin typeface="Montserrat"/>
                <a:ea typeface="Montserrat"/>
                <a:cs typeface="Montserrat"/>
                <a:sym typeface="Montserrat"/>
              </a:rPr>
              <a:t>prioritize</a:t>
            </a:r>
            <a:r>
              <a:rPr lang="en-GB" sz="1600">
                <a:solidFill>
                  <a:schemeClr val="accent4"/>
                </a:solidFill>
                <a:latin typeface="Montserrat"/>
                <a:ea typeface="Montserrat"/>
                <a:cs typeface="Montserrat"/>
                <a:sym typeface="Montserrat"/>
              </a:rPr>
              <a:t> targeted growth initiatives in Area B while sustaining performance in Area A. Focus on diagnosing the drivers of lower sales in Area B, such as distribution gaps, pricing, or demand differences, and pilot interventions (e.g, promotions, channel expansion, or localized marketing) to close the performance gap.</a:t>
            </a:r>
            <a:endParaRPr sz="1600">
              <a:solidFill>
                <a:schemeClr val="accent4"/>
              </a:solidFill>
              <a:latin typeface="Montserrat"/>
              <a:ea typeface="Montserrat"/>
              <a:cs typeface="Montserrat"/>
              <a:sym typeface="Montserrat"/>
            </a:endParaRPr>
          </a:p>
          <a:p>
            <a:pPr indent="0" lvl="0" marL="0" rtl="0" algn="l">
              <a:spcBef>
                <a:spcPts val="1200"/>
              </a:spcBef>
              <a:spcAft>
                <a:spcPts val="0"/>
              </a:spcAft>
              <a:buNone/>
            </a:pPr>
            <a:r>
              <a:t/>
            </a:r>
            <a:endParaRPr sz="1600">
              <a:solidFill>
                <a:schemeClr val="dk1"/>
              </a:solidFill>
              <a:latin typeface="Montserrat"/>
              <a:ea typeface="Montserrat"/>
              <a:cs typeface="Montserrat"/>
              <a:sym typeface="Montserrat"/>
            </a:endParaRPr>
          </a:p>
        </p:txBody>
      </p:sp>
      <p:sp>
        <p:nvSpPr>
          <p:cNvPr id="111" name="Google Shape;111;p16"/>
          <p:cNvSpPr txBox="1"/>
          <p:nvPr/>
        </p:nvSpPr>
        <p:spPr>
          <a:xfrm>
            <a:off x="442575" y="185113"/>
            <a:ext cx="7251000" cy="46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GB" sz="1800">
                <a:solidFill>
                  <a:schemeClr val="accent4"/>
                </a:solidFill>
                <a:latin typeface="Montserrat"/>
                <a:ea typeface="Montserrat"/>
                <a:cs typeface="Montserrat"/>
                <a:sym typeface="Montserrat"/>
              </a:rPr>
              <a:t>Total Sales Comparison: Area A vs Area B (3-Month Period)</a:t>
            </a:r>
            <a:endParaRPr b="1" i="1" sz="1800">
              <a:solidFill>
                <a:schemeClr val="accent4"/>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sp>
        <p:nvSpPr>
          <p:cNvPr id="116" name="Google Shape;116;p17"/>
          <p:cNvSpPr txBox="1"/>
          <p:nvPr>
            <p:ph type="title"/>
          </p:nvPr>
        </p:nvSpPr>
        <p:spPr>
          <a:xfrm>
            <a:off x="134950" y="175325"/>
            <a:ext cx="7225200" cy="686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i="1" lang="en-GB" sz="1800">
                <a:solidFill>
                  <a:schemeClr val="accent4"/>
                </a:solidFill>
                <a:latin typeface="Montserrat"/>
                <a:ea typeface="Montserrat"/>
                <a:cs typeface="Montserrat"/>
                <a:sym typeface="Montserrat"/>
              </a:rPr>
              <a:t>Product Group Performance Comparison Across Areas</a:t>
            </a:r>
            <a:endParaRPr b="1" i="1" sz="1800">
              <a:solidFill>
                <a:schemeClr val="accent4"/>
              </a:solidFill>
              <a:latin typeface="Montserrat"/>
              <a:ea typeface="Montserrat"/>
              <a:cs typeface="Montserrat"/>
              <a:sym typeface="Montserrat"/>
            </a:endParaRPr>
          </a:p>
        </p:txBody>
      </p:sp>
      <p:pic>
        <p:nvPicPr>
          <p:cNvPr id="117" name="Google Shape;117;p17"/>
          <p:cNvPicPr preferRelativeResize="0"/>
          <p:nvPr/>
        </p:nvPicPr>
        <p:blipFill>
          <a:blip r:embed="rId3">
            <a:alphaModFix/>
          </a:blip>
          <a:stretch>
            <a:fillRect/>
          </a:stretch>
        </p:blipFill>
        <p:spPr>
          <a:xfrm>
            <a:off x="152400" y="861425"/>
            <a:ext cx="3594773" cy="4129676"/>
          </a:xfrm>
          <a:prstGeom prst="rect">
            <a:avLst/>
          </a:prstGeom>
          <a:noFill/>
          <a:ln>
            <a:noFill/>
          </a:ln>
        </p:spPr>
      </p:pic>
      <p:sp>
        <p:nvSpPr>
          <p:cNvPr id="118" name="Google Shape;118;p17"/>
          <p:cNvSpPr txBox="1"/>
          <p:nvPr/>
        </p:nvSpPr>
        <p:spPr>
          <a:xfrm>
            <a:off x="4383550" y="920975"/>
            <a:ext cx="4119600" cy="382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GB" sz="1600">
                <a:solidFill>
                  <a:schemeClr val="accent4"/>
                </a:solidFill>
                <a:latin typeface="Montserrat"/>
                <a:ea typeface="Montserrat"/>
                <a:cs typeface="Montserrat"/>
                <a:sym typeface="Montserrat"/>
              </a:rPr>
              <a:t>Between December 2023 and February 2024, a total of 3,842 units were sold across both areas. Area A accounted for the majority of sales, with 2,934 units (76.36%), while Area B recorded 908 units (23.64%). Product 1 is the most accessed in both areas( 85.28% in Area 1, and 65.49% in Area 2), while Product 3 performs second best in Area 1 (8.99%), while product 2 performs best in Area 2 (14.66%). Sunking should scale Product 1 and 3 from Area A into Area B, to improve overall uptake.</a:t>
            </a:r>
            <a:endParaRPr sz="16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2" name="Shape 122"/>
        <p:cNvGrpSpPr/>
        <p:nvPr/>
      </p:nvGrpSpPr>
      <p:grpSpPr>
        <a:xfrm>
          <a:off x="0" y="0"/>
          <a:ext cx="0" cy="0"/>
          <a:chOff x="0" y="0"/>
          <a:chExt cx="0" cy="0"/>
        </a:xfrm>
      </p:grpSpPr>
      <p:sp>
        <p:nvSpPr>
          <p:cNvPr id="123" name="Google Shape;123;p18"/>
          <p:cNvSpPr txBox="1"/>
          <p:nvPr>
            <p:ph type="title"/>
          </p:nvPr>
        </p:nvSpPr>
        <p:spPr>
          <a:xfrm>
            <a:off x="164300" y="124650"/>
            <a:ext cx="72531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i="1" lang="en-GB" sz="1800">
                <a:solidFill>
                  <a:schemeClr val="accent4"/>
                </a:solidFill>
                <a:latin typeface="Montserrat"/>
                <a:ea typeface="Montserrat"/>
                <a:cs typeface="Montserrat"/>
                <a:sym typeface="Montserrat"/>
              </a:rPr>
              <a:t>Top-Selling Product in Area A and Its Share of Total Sales</a:t>
            </a:r>
            <a:endParaRPr b="1" i="1" sz="1800">
              <a:solidFill>
                <a:schemeClr val="accent4"/>
              </a:solidFill>
              <a:latin typeface="Montserrat"/>
              <a:ea typeface="Montserrat"/>
              <a:cs typeface="Montserrat"/>
              <a:sym typeface="Montserrat"/>
            </a:endParaRPr>
          </a:p>
        </p:txBody>
      </p:sp>
      <p:sp>
        <p:nvSpPr>
          <p:cNvPr id="124" name="Google Shape;124;p18"/>
          <p:cNvSpPr txBox="1"/>
          <p:nvPr/>
        </p:nvSpPr>
        <p:spPr>
          <a:xfrm>
            <a:off x="5693225" y="1123350"/>
            <a:ext cx="3083700" cy="341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800">
                <a:solidFill>
                  <a:schemeClr val="accent4"/>
                </a:solidFill>
                <a:highlight>
                  <a:srgbClr val="FFFFFF"/>
                </a:highlight>
                <a:latin typeface="Montserrat"/>
                <a:ea typeface="Montserrat"/>
                <a:cs typeface="Montserrat"/>
                <a:sym typeface="Montserrat"/>
              </a:rPr>
              <a:t>Product 1 is the most popular product in Area A, with 2,503 units sold, representing 85.28% of all Area A sales, with the remaining six product groups collectively accounting for only 14.72% of sales.</a:t>
            </a:r>
            <a:endParaRPr sz="1800">
              <a:solidFill>
                <a:schemeClr val="accent4"/>
              </a:solidFill>
              <a:highlight>
                <a:srgbClr val="FFFFFF"/>
              </a:highlight>
              <a:latin typeface="Montserrat"/>
              <a:ea typeface="Montserrat"/>
              <a:cs typeface="Montserrat"/>
              <a:sym typeface="Montserrat"/>
            </a:endParaRPr>
          </a:p>
          <a:p>
            <a:pPr indent="0" lvl="0" marL="0" rtl="0" algn="l">
              <a:lnSpc>
                <a:spcPct val="115000"/>
              </a:lnSpc>
              <a:spcBef>
                <a:spcPts val="800"/>
              </a:spcBef>
              <a:spcAft>
                <a:spcPts val="0"/>
              </a:spcAft>
              <a:buNone/>
            </a:pPr>
            <a:r>
              <a:t/>
            </a:r>
            <a:endParaRPr sz="1100"/>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pic>
        <p:nvPicPr>
          <p:cNvPr id="125" name="Google Shape;125;p18"/>
          <p:cNvPicPr preferRelativeResize="0"/>
          <p:nvPr/>
        </p:nvPicPr>
        <p:blipFill>
          <a:blip r:embed="rId3">
            <a:alphaModFix/>
          </a:blip>
          <a:stretch>
            <a:fillRect/>
          </a:stretch>
        </p:blipFill>
        <p:spPr>
          <a:xfrm>
            <a:off x="152400" y="963150"/>
            <a:ext cx="5530407" cy="341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142875" y="2345550"/>
            <a:ext cx="7157700" cy="837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4500"/>
              <a:buFont typeface="Arial Black"/>
              <a:buNone/>
            </a:pPr>
            <a:r>
              <a:rPr lang="en-GB" sz="3600">
                <a:solidFill>
                  <a:schemeClr val="accent6"/>
                </a:solidFill>
                <a:latin typeface="Montserrat"/>
                <a:ea typeface="Montserrat"/>
                <a:cs typeface="Montserrat"/>
                <a:sym typeface="Montserrat"/>
              </a:rPr>
              <a:t>Sample Size Calculation</a:t>
            </a:r>
            <a:endParaRPr sz="3600">
              <a:solidFill>
                <a:schemeClr val="accent6"/>
              </a:solidFill>
              <a:latin typeface="Montserrat"/>
              <a:ea typeface="Montserrat"/>
              <a:cs typeface="Montserrat"/>
              <a:sym typeface="Montserrat"/>
            </a:endParaRPr>
          </a:p>
        </p:txBody>
      </p:sp>
      <p:sp>
        <p:nvSpPr>
          <p:cNvPr id="131" name="Google Shape;131;p19"/>
          <p:cNvSpPr txBox="1"/>
          <p:nvPr/>
        </p:nvSpPr>
        <p:spPr>
          <a:xfrm>
            <a:off x="263975" y="3099800"/>
            <a:ext cx="7157700" cy="15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Assumptions: </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Current 14-day repayment rate in the control group: 40%</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Minimum improvement worth detecting: 5 percentage points</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So treatment repayment rate would be 45%</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Significance level (alpha): 5%</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Statistical power: 80%</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Equal allocation between treatment and control: 50:50</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rPr lang="en-GB" sz="1100">
                <a:solidFill>
                  <a:schemeClr val="accent6"/>
                </a:solidFill>
                <a:latin typeface="Montserrat"/>
                <a:ea typeface="Montserrat"/>
                <a:cs typeface="Montserrat"/>
                <a:sym typeface="Montserrat"/>
              </a:rPr>
              <a:t>Assume a simple randomized experiment at customer level</a:t>
            </a:r>
            <a:endParaRPr sz="1100">
              <a:solidFill>
                <a:schemeClr val="accent6"/>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accent6"/>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68850" y="303250"/>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b="1" i="1" lang="en-GB" sz="1800">
                <a:solidFill>
                  <a:schemeClr val="accent4"/>
                </a:solidFill>
                <a:latin typeface="Montserrat"/>
                <a:ea typeface="Montserrat"/>
                <a:cs typeface="Montserrat"/>
                <a:sym typeface="Montserrat"/>
              </a:rPr>
              <a:t>Power Calculation to Determine Sample Size</a:t>
            </a:r>
            <a:endParaRPr b="1" i="1" sz="1800">
              <a:solidFill>
                <a:schemeClr val="accent4"/>
              </a:solidFill>
              <a:latin typeface="Montserrat"/>
              <a:ea typeface="Montserrat"/>
              <a:cs typeface="Montserrat"/>
              <a:sym typeface="Montserrat"/>
            </a:endParaRPr>
          </a:p>
        </p:txBody>
      </p:sp>
      <p:sp>
        <p:nvSpPr>
          <p:cNvPr id="137" name="Google Shape;137;p20"/>
          <p:cNvSpPr txBox="1"/>
          <p:nvPr/>
        </p:nvSpPr>
        <p:spPr>
          <a:xfrm>
            <a:off x="564650" y="1063850"/>
            <a:ext cx="8072400" cy="38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accent4"/>
                </a:solidFill>
                <a:latin typeface="Montserrat"/>
                <a:ea typeface="Montserrat"/>
                <a:cs typeface="Montserrat"/>
                <a:sym typeface="Montserrat"/>
              </a:rPr>
              <a:t>I used the </a:t>
            </a:r>
            <a:r>
              <a:rPr lang="en-GB" sz="1800" u="sng">
                <a:solidFill>
                  <a:schemeClr val="accent4"/>
                </a:solidFill>
                <a:latin typeface="Montserrat"/>
                <a:ea typeface="Montserrat"/>
                <a:cs typeface="Montserrat"/>
                <a:sym typeface="Montserrat"/>
                <a:hlinkClick r:id="rId3">
                  <a:extLst>
                    <a:ext uri="{A12FA001-AC4F-418D-AE19-62706E023703}">
                      <ahyp:hlinkClr val="tx"/>
                    </a:ext>
                  </a:extLst>
                </a:hlinkClick>
              </a:rPr>
              <a:t>https://www.powercalc.ca/</a:t>
            </a:r>
            <a:r>
              <a:rPr lang="en-GB" sz="1800">
                <a:solidFill>
                  <a:schemeClr val="accent4"/>
                </a:solidFill>
                <a:latin typeface="Montserrat"/>
                <a:ea typeface="Montserrat"/>
                <a:cs typeface="Montserrat"/>
                <a:sym typeface="Montserrat"/>
              </a:rPr>
              <a:t> statistical software to compute the sample size using the assumptions provided.</a:t>
            </a:r>
            <a:endParaRPr sz="1800">
              <a:solidFill>
                <a:schemeClr val="accent4"/>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accent4"/>
              </a:solidFill>
              <a:latin typeface="Montserrat"/>
              <a:ea typeface="Montserrat"/>
              <a:cs typeface="Montserrat"/>
              <a:sym typeface="Montserrat"/>
            </a:endParaRPr>
          </a:p>
          <a:p>
            <a:pPr indent="0" lvl="0" marL="0" rtl="0" algn="l">
              <a:spcBef>
                <a:spcPts val="0"/>
              </a:spcBef>
              <a:spcAft>
                <a:spcPts val="0"/>
              </a:spcAft>
              <a:buNone/>
            </a:pPr>
            <a:r>
              <a:rPr lang="en-GB" sz="1800">
                <a:solidFill>
                  <a:schemeClr val="accent4"/>
                </a:solidFill>
                <a:latin typeface="Montserrat"/>
                <a:ea typeface="Montserrat"/>
                <a:cs typeface="Montserrat"/>
                <a:sym typeface="Montserrat"/>
              </a:rPr>
              <a:t>A total sample of 3,068 customers is required, with at least 1,534 </a:t>
            </a:r>
            <a:endParaRPr sz="1800">
              <a:solidFill>
                <a:schemeClr val="accent4"/>
              </a:solidFill>
              <a:latin typeface="Montserrat"/>
              <a:ea typeface="Montserrat"/>
              <a:cs typeface="Montserrat"/>
              <a:sym typeface="Montserrat"/>
            </a:endParaRPr>
          </a:p>
          <a:p>
            <a:pPr indent="0" lvl="0" marL="0" rtl="0" algn="l">
              <a:spcBef>
                <a:spcPts val="0"/>
              </a:spcBef>
              <a:spcAft>
                <a:spcPts val="0"/>
              </a:spcAft>
              <a:buNone/>
            </a:pPr>
            <a:r>
              <a:rPr lang="en-GB" sz="1800">
                <a:solidFill>
                  <a:schemeClr val="accent4"/>
                </a:solidFill>
                <a:latin typeface="Montserrat"/>
                <a:ea typeface="Montserrat"/>
                <a:cs typeface="Montserrat"/>
                <a:sym typeface="Montserrat"/>
              </a:rPr>
              <a:t>in the experimental group and 1,534 in the control group. This is sufficient to detect a 5 percentage point improvement in the 7-day repayment rate, from 40% in the control group to 45% in the experimental group, assuming 80% statistical power and a two-sided significance level of 0.05.</a:t>
            </a:r>
            <a:endParaRPr sz="1800">
              <a:solidFill>
                <a:schemeClr val="accent4"/>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accent4"/>
              </a:solidFill>
              <a:latin typeface="Montserrat"/>
              <a:ea typeface="Montserrat"/>
              <a:cs typeface="Montserrat"/>
              <a:sym typeface="Montserrat"/>
            </a:endParaRPr>
          </a:p>
          <a:p>
            <a:pPr indent="0" lvl="0" marL="0" rtl="0" algn="l">
              <a:spcBef>
                <a:spcPts val="0"/>
              </a:spcBef>
              <a:spcAft>
                <a:spcPts val="0"/>
              </a:spcAft>
              <a:buNone/>
            </a:pPr>
            <a:r>
              <a:rPr lang="en-GB" sz="1800">
                <a:solidFill>
                  <a:schemeClr val="accent4"/>
                </a:solidFill>
                <a:latin typeface="Montserrat"/>
                <a:ea typeface="Montserrat"/>
                <a:cs typeface="Montserrat"/>
                <a:sym typeface="Montserrat"/>
              </a:rPr>
              <a:t>If the minimum detectable effect were smaller, the required sample size would increase substantially, as smaller differences demand greater precision to distinguish a true effect from random variation.</a:t>
            </a:r>
            <a:endParaRPr sz="1800">
              <a:solidFill>
                <a:schemeClr val="accent4"/>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285750" y="2857500"/>
            <a:ext cx="7157700" cy="1460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4500"/>
              <a:buFont typeface="Arial Black"/>
              <a:buNone/>
            </a:pPr>
            <a:r>
              <a:rPr lang="en-GB" sz="3600">
                <a:solidFill>
                  <a:schemeClr val="accent6"/>
                </a:solidFill>
                <a:latin typeface="Montserrat"/>
                <a:ea typeface="Montserrat"/>
                <a:cs typeface="Montserrat"/>
                <a:sym typeface="Montserrat"/>
              </a:rPr>
              <a:t>Collection Performance Metrics</a:t>
            </a:r>
            <a:endParaRPr sz="3600">
              <a:solidFill>
                <a:schemeClr val="accent6"/>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6" name="Shape 146"/>
        <p:cNvGrpSpPr/>
        <p:nvPr/>
      </p:nvGrpSpPr>
      <p:grpSpPr>
        <a:xfrm>
          <a:off x="0" y="0"/>
          <a:ext cx="0" cy="0"/>
          <a:chOff x="0" y="0"/>
          <a:chExt cx="0" cy="0"/>
        </a:xfrm>
      </p:grpSpPr>
      <p:sp>
        <p:nvSpPr>
          <p:cNvPr id="147" name="Google Shape;147;p22"/>
          <p:cNvSpPr txBox="1"/>
          <p:nvPr>
            <p:ph type="title"/>
          </p:nvPr>
        </p:nvSpPr>
        <p:spPr>
          <a:xfrm>
            <a:off x="268850" y="51900"/>
            <a:ext cx="8368200" cy="559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b="1" i="1" lang="en-GB" sz="1800">
                <a:solidFill>
                  <a:schemeClr val="accent4"/>
                </a:solidFill>
                <a:latin typeface="Montserrat"/>
                <a:ea typeface="Montserrat"/>
                <a:cs typeface="Montserrat"/>
                <a:sym typeface="Montserrat"/>
              </a:rPr>
              <a:t>Product Performance Analysis</a:t>
            </a:r>
            <a:endParaRPr b="1" i="1" sz="1800">
              <a:solidFill>
                <a:schemeClr val="accent4"/>
              </a:solidFill>
              <a:latin typeface="Montserrat"/>
              <a:ea typeface="Montserrat"/>
              <a:cs typeface="Montserrat"/>
              <a:sym typeface="Montserrat"/>
            </a:endParaRPr>
          </a:p>
        </p:txBody>
      </p:sp>
      <p:sp>
        <p:nvSpPr>
          <p:cNvPr id="148" name="Google Shape;148;p22"/>
          <p:cNvSpPr txBox="1"/>
          <p:nvPr/>
        </p:nvSpPr>
        <p:spPr>
          <a:xfrm>
            <a:off x="268850" y="611400"/>
            <a:ext cx="8686800" cy="17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accent4"/>
                </a:solidFill>
                <a:latin typeface="Montserrat"/>
                <a:ea typeface="Montserrat"/>
                <a:cs typeface="Montserrat"/>
                <a:sym typeface="Montserrat"/>
              </a:rPr>
              <a:t>P</a:t>
            </a:r>
            <a:r>
              <a:rPr lang="en-GB">
                <a:solidFill>
                  <a:schemeClr val="accent4"/>
                </a:solidFill>
                <a:latin typeface="Montserrat"/>
                <a:ea typeface="Montserrat"/>
                <a:cs typeface="Montserrat"/>
                <a:sym typeface="Montserrat"/>
              </a:rPr>
              <a:t>roduct</a:t>
            </a:r>
            <a:r>
              <a:rPr lang="en-GB">
                <a:solidFill>
                  <a:schemeClr val="accent4"/>
                </a:solidFill>
                <a:latin typeface="Montserrat"/>
                <a:ea typeface="Montserrat"/>
                <a:cs typeface="Montserrat"/>
                <a:sym typeface="Montserrat"/>
              </a:rPr>
              <a:t> performance varies meaningfully, with Product 4 and Product 7 showing the longest durations at 33.9 and 31.1 days respectively. In contrast, most other products cluster in the 20-day range, with Product 5 being the shortest at 20 days. Sunking’s operation’s team should Investigate drivers of longer durations for Product 4 and Product 7 while optimizing faster-moving products. The significant gap suggests that Product 4 and 7 may face operational or demand-related challenges. Consider reviewing supply chain, production, or marketing factors to reduce duration, and apply best practices from faster-selling products like Product 5 to improve overall efficiency.</a:t>
            </a:r>
            <a:endParaRPr>
              <a:solidFill>
                <a:schemeClr val="accent4"/>
              </a:solidFill>
              <a:latin typeface="Montserrat"/>
              <a:ea typeface="Montserrat"/>
              <a:cs typeface="Montserrat"/>
              <a:sym typeface="Montserrat"/>
            </a:endParaRPr>
          </a:p>
        </p:txBody>
      </p:sp>
      <p:pic>
        <p:nvPicPr>
          <p:cNvPr id="149" name="Google Shape;149;p22"/>
          <p:cNvPicPr preferRelativeResize="0"/>
          <p:nvPr/>
        </p:nvPicPr>
        <p:blipFill>
          <a:blip r:embed="rId3">
            <a:alphaModFix/>
          </a:blip>
          <a:stretch>
            <a:fillRect/>
          </a:stretch>
        </p:blipFill>
        <p:spPr>
          <a:xfrm>
            <a:off x="2002302" y="2390775"/>
            <a:ext cx="4455251" cy="2752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 name="Shape 153"/>
        <p:cNvGrpSpPr/>
        <p:nvPr/>
      </p:nvGrpSpPr>
      <p:grpSpPr>
        <a:xfrm>
          <a:off x="0" y="0"/>
          <a:ext cx="0" cy="0"/>
          <a:chOff x="0" y="0"/>
          <a:chExt cx="0" cy="0"/>
        </a:xfrm>
      </p:grpSpPr>
      <p:sp>
        <p:nvSpPr>
          <p:cNvPr id="154" name="Google Shape;154;p23"/>
          <p:cNvSpPr txBox="1"/>
          <p:nvPr>
            <p:ph type="title"/>
          </p:nvPr>
        </p:nvSpPr>
        <p:spPr>
          <a:xfrm>
            <a:off x="203600" y="0"/>
            <a:ext cx="7716000" cy="846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SzPct val="54999"/>
              <a:buNone/>
            </a:pPr>
            <a:r>
              <a:rPr b="1" i="1" lang="en-GB" sz="1800">
                <a:solidFill>
                  <a:schemeClr val="accent4"/>
                </a:solidFill>
                <a:latin typeface="Montserrat"/>
                <a:ea typeface="Montserrat"/>
                <a:cs typeface="Montserrat"/>
                <a:sym typeface="Montserrat"/>
              </a:rPr>
              <a:t>Repayment speed: Product 1, Area A, July 18 2024 (first-half registrations)</a:t>
            </a:r>
            <a:r>
              <a:rPr b="1" i="1" lang="en-GB" sz="1800">
                <a:solidFill>
                  <a:schemeClr val="accent4"/>
                </a:solidFill>
                <a:latin typeface="Montserrat"/>
                <a:ea typeface="Montserrat"/>
                <a:cs typeface="Montserrat"/>
                <a:sym typeface="Montserrat"/>
              </a:rPr>
              <a:t>, vs </a:t>
            </a:r>
            <a:r>
              <a:rPr b="1" i="1" lang="en-GB" sz="1800">
                <a:solidFill>
                  <a:schemeClr val="accent4"/>
                </a:solidFill>
                <a:latin typeface="Montserrat"/>
                <a:ea typeface="Montserrat"/>
                <a:cs typeface="Montserrat"/>
                <a:sym typeface="Montserrat"/>
              </a:rPr>
              <a:t>Repayment speed by unit age week, Area A vs Area B (weeks 1–10) Area A</a:t>
            </a:r>
            <a:endParaRPr b="1" i="1" sz="1800">
              <a:solidFill>
                <a:schemeClr val="accent4"/>
              </a:solidFill>
              <a:latin typeface="Montserrat"/>
              <a:ea typeface="Montserrat"/>
              <a:cs typeface="Montserrat"/>
              <a:sym typeface="Montserrat"/>
            </a:endParaRPr>
          </a:p>
        </p:txBody>
      </p:sp>
      <p:graphicFrame>
        <p:nvGraphicFramePr>
          <p:cNvPr id="155" name="Google Shape;155;p23"/>
          <p:cNvGraphicFramePr/>
          <p:nvPr/>
        </p:nvGraphicFramePr>
        <p:xfrm>
          <a:off x="203600" y="799750"/>
          <a:ext cx="3000000" cy="3000000"/>
        </p:xfrm>
        <a:graphic>
          <a:graphicData uri="http://schemas.openxmlformats.org/drawingml/2006/table">
            <a:tbl>
              <a:tblPr>
                <a:noFill/>
                <a:tableStyleId>{15C4C391-0B5C-46D8-8732-52E3E82FA15F}</a:tableStyleId>
              </a:tblPr>
              <a:tblGrid>
                <a:gridCol w="1869575"/>
                <a:gridCol w="1869575"/>
                <a:gridCol w="1869575"/>
              </a:tblGrid>
              <a:tr h="633175">
                <a:tc>
                  <a:txBody>
                    <a:bodyPr/>
                    <a:lstStyle/>
                    <a:p>
                      <a:pPr indent="0" lvl="0" marL="0" rtl="0" algn="ctr">
                        <a:lnSpc>
                          <a:spcPct val="115000"/>
                        </a:lnSpc>
                        <a:spcBef>
                          <a:spcPts val="0"/>
                        </a:spcBef>
                        <a:spcAft>
                          <a:spcPts val="0"/>
                        </a:spcAft>
                        <a:buNone/>
                      </a:pPr>
                      <a:r>
                        <a:rPr lang="en-GB" sz="1200">
                          <a:solidFill>
                            <a:schemeClr val="accent4"/>
                          </a:solidFill>
                          <a:latin typeface="Montserrat"/>
                          <a:ea typeface="Montserrat"/>
                          <a:cs typeface="Montserrat"/>
                          <a:sym typeface="Montserrat"/>
                        </a:rPr>
                        <a:t>Total collected</a:t>
                      </a:r>
                      <a:endParaRPr sz="1200">
                        <a:solidFill>
                          <a:schemeClr val="accent4"/>
                        </a:solidFill>
                        <a:latin typeface="Montserrat"/>
                        <a:ea typeface="Montserrat"/>
                        <a:cs typeface="Montserrat"/>
                        <a:sym typeface="Montserrat"/>
                      </a:endParaRPr>
                    </a:p>
                    <a:p>
                      <a:pPr indent="0" lvl="0" marL="0" rtl="0" algn="ctr">
                        <a:lnSpc>
                          <a:spcPct val="115000"/>
                        </a:lnSpc>
                        <a:spcBef>
                          <a:spcPts val="300"/>
                        </a:spcBef>
                        <a:spcAft>
                          <a:spcPts val="0"/>
                        </a:spcAft>
                        <a:buNone/>
                      </a:pPr>
                      <a:r>
                        <a:rPr lang="en-GB" sz="1950">
                          <a:solidFill>
                            <a:schemeClr val="accent4"/>
                          </a:solidFill>
                          <a:latin typeface="Montserrat"/>
                          <a:ea typeface="Montserrat"/>
                          <a:cs typeface="Montserrat"/>
                          <a:sym typeface="Montserrat"/>
                        </a:rPr>
                        <a:t>21,296</a:t>
                      </a:r>
                      <a:endParaRPr sz="1700">
                        <a:solidFill>
                          <a:schemeClr val="accent4"/>
                        </a:solidFill>
                        <a:latin typeface="Montserrat"/>
                        <a:ea typeface="Montserrat"/>
                        <a:cs typeface="Montserrat"/>
                        <a:sym typeface="Montserrat"/>
                      </a:endParaRPr>
                    </a:p>
                  </a:txBody>
                  <a:tcPr marT="91425" marB="91425" marR="91425" marL="91425"/>
                </a:tc>
                <a:tc>
                  <a:txBody>
                    <a:bodyPr/>
                    <a:lstStyle/>
                    <a:p>
                      <a:pPr indent="0" lvl="0" marL="0" rtl="0" algn="ctr">
                        <a:lnSpc>
                          <a:spcPct val="115000"/>
                        </a:lnSpc>
                        <a:spcBef>
                          <a:spcPts val="0"/>
                        </a:spcBef>
                        <a:spcAft>
                          <a:spcPts val="0"/>
                        </a:spcAft>
                        <a:buNone/>
                      </a:pPr>
                      <a:r>
                        <a:rPr lang="en-GB" sz="1200">
                          <a:solidFill>
                            <a:schemeClr val="accent4"/>
                          </a:solidFill>
                          <a:latin typeface="Montserrat"/>
                          <a:ea typeface="Montserrat"/>
                          <a:cs typeface="Montserrat"/>
                          <a:sym typeface="Montserrat"/>
                        </a:rPr>
                        <a:t>Total expected</a:t>
                      </a:r>
                      <a:endParaRPr sz="1200">
                        <a:solidFill>
                          <a:schemeClr val="accent4"/>
                        </a:solidFill>
                        <a:latin typeface="Montserrat"/>
                        <a:ea typeface="Montserrat"/>
                        <a:cs typeface="Montserrat"/>
                        <a:sym typeface="Montserrat"/>
                      </a:endParaRPr>
                    </a:p>
                    <a:p>
                      <a:pPr indent="0" lvl="0" marL="0" rtl="0" algn="ctr">
                        <a:lnSpc>
                          <a:spcPct val="115000"/>
                        </a:lnSpc>
                        <a:spcBef>
                          <a:spcPts val="300"/>
                        </a:spcBef>
                        <a:spcAft>
                          <a:spcPts val="0"/>
                        </a:spcAft>
                        <a:buNone/>
                      </a:pPr>
                      <a:r>
                        <a:rPr lang="en-GB" sz="1950">
                          <a:solidFill>
                            <a:schemeClr val="accent4"/>
                          </a:solidFill>
                          <a:latin typeface="Montserrat"/>
                          <a:ea typeface="Montserrat"/>
                          <a:cs typeface="Montserrat"/>
                          <a:sym typeface="Montserrat"/>
                        </a:rPr>
                        <a:t>37,740</a:t>
                      </a:r>
                      <a:endParaRPr sz="1700">
                        <a:solidFill>
                          <a:schemeClr val="accent4"/>
                        </a:solidFill>
                        <a:latin typeface="Montserrat"/>
                        <a:ea typeface="Montserrat"/>
                        <a:cs typeface="Montserrat"/>
                        <a:sym typeface="Montserrat"/>
                      </a:endParaRPr>
                    </a:p>
                  </a:txBody>
                  <a:tcPr marT="91425" marB="91425" marR="91425" marL="91425"/>
                </a:tc>
                <a:tc>
                  <a:txBody>
                    <a:bodyPr/>
                    <a:lstStyle/>
                    <a:p>
                      <a:pPr indent="0" lvl="0" marL="0" rtl="0" algn="l">
                        <a:lnSpc>
                          <a:spcPct val="115000"/>
                        </a:lnSpc>
                        <a:spcBef>
                          <a:spcPts val="0"/>
                        </a:spcBef>
                        <a:spcAft>
                          <a:spcPts val="0"/>
                        </a:spcAft>
                        <a:buNone/>
                      </a:pPr>
                      <a:r>
                        <a:rPr lang="en-GB" sz="1200">
                          <a:solidFill>
                            <a:schemeClr val="accent4"/>
                          </a:solidFill>
                          <a:latin typeface="Montserrat"/>
                          <a:ea typeface="Montserrat"/>
                          <a:cs typeface="Montserrat"/>
                          <a:sym typeface="Montserrat"/>
                        </a:rPr>
                        <a:t>Repayment Speed</a:t>
                      </a:r>
                      <a:endParaRPr sz="1200">
                        <a:solidFill>
                          <a:schemeClr val="accent4"/>
                        </a:solidFill>
                        <a:latin typeface="Montserrat"/>
                        <a:ea typeface="Montserrat"/>
                        <a:cs typeface="Montserrat"/>
                        <a:sym typeface="Montserrat"/>
                      </a:endParaRPr>
                    </a:p>
                    <a:p>
                      <a:pPr indent="0" lvl="0" marL="0" rtl="0" algn="l">
                        <a:lnSpc>
                          <a:spcPct val="115000"/>
                        </a:lnSpc>
                        <a:spcBef>
                          <a:spcPts val="300"/>
                        </a:spcBef>
                        <a:spcAft>
                          <a:spcPts val="0"/>
                        </a:spcAft>
                        <a:buNone/>
                      </a:pPr>
                      <a:r>
                        <a:rPr lang="en-GB" sz="1950">
                          <a:solidFill>
                            <a:schemeClr val="accent4"/>
                          </a:solidFill>
                          <a:latin typeface="Montserrat"/>
                          <a:ea typeface="Montserrat"/>
                          <a:cs typeface="Montserrat"/>
                          <a:sym typeface="Montserrat"/>
                        </a:rPr>
                        <a:t>56.4%</a:t>
                      </a:r>
                      <a:endParaRPr sz="1700">
                        <a:solidFill>
                          <a:schemeClr val="accent4"/>
                        </a:solidFill>
                        <a:latin typeface="Montserrat"/>
                        <a:ea typeface="Montserrat"/>
                        <a:cs typeface="Montserrat"/>
                        <a:sym typeface="Montserrat"/>
                      </a:endParaRPr>
                    </a:p>
                  </a:txBody>
                  <a:tcPr marT="91425" marB="91425" marR="91425" marL="91425"/>
                </a:tc>
              </a:tr>
            </a:tbl>
          </a:graphicData>
        </a:graphic>
      </p:graphicFrame>
      <p:sp>
        <p:nvSpPr>
          <p:cNvPr id="156" name="Google Shape;156;p23"/>
          <p:cNvSpPr txBox="1"/>
          <p:nvPr/>
        </p:nvSpPr>
        <p:spPr>
          <a:xfrm>
            <a:off x="6014700" y="846475"/>
            <a:ext cx="3060000" cy="41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accent4"/>
                </a:solidFill>
                <a:highlight>
                  <a:schemeClr val="dk1"/>
                </a:highlight>
                <a:latin typeface="Montserrat"/>
                <a:ea typeface="Montserrat"/>
                <a:cs typeface="Montserrat"/>
                <a:sym typeface="Montserrat"/>
              </a:rPr>
              <a:t>Area B consistently outperforms Area A on repayment speed across all unit age weeks. Area B starts near 93% in week 1 and declines to ~79% by week 10. Area A starts at 79% and declines to 64% by week 10. Both areas show a declining trajectory as accounts age, which is typical in PAYG portfolios. </a:t>
            </a:r>
            <a:endParaRPr sz="2400">
              <a:solidFill>
                <a:schemeClr val="accent4"/>
              </a:solidFill>
              <a:highlight>
                <a:schemeClr val="dk1"/>
              </a:highlight>
              <a:latin typeface="Montserrat"/>
              <a:ea typeface="Montserrat"/>
              <a:cs typeface="Montserrat"/>
              <a:sym typeface="Montserrat"/>
            </a:endParaRPr>
          </a:p>
        </p:txBody>
      </p:sp>
      <p:pic>
        <p:nvPicPr>
          <p:cNvPr id="157" name="Google Shape;157;p23"/>
          <p:cNvPicPr preferRelativeResize="0"/>
          <p:nvPr/>
        </p:nvPicPr>
        <p:blipFill>
          <a:blip r:embed="rId3">
            <a:alphaModFix/>
          </a:blip>
          <a:stretch>
            <a:fillRect/>
          </a:stretch>
        </p:blipFill>
        <p:spPr>
          <a:xfrm>
            <a:off x="283375" y="1715400"/>
            <a:ext cx="5528926" cy="2150150"/>
          </a:xfrm>
          <a:prstGeom prst="rect">
            <a:avLst/>
          </a:prstGeom>
          <a:noFill/>
          <a:ln>
            <a:noFill/>
          </a:ln>
        </p:spPr>
      </p:pic>
      <p:sp>
        <p:nvSpPr>
          <p:cNvPr id="158" name="Google Shape;158;p23"/>
          <p:cNvSpPr txBox="1"/>
          <p:nvPr/>
        </p:nvSpPr>
        <p:spPr>
          <a:xfrm>
            <a:off x="323525" y="4016600"/>
            <a:ext cx="8620200" cy="9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accent4"/>
                </a:solidFill>
                <a:highlight>
                  <a:schemeClr val="dk1"/>
                </a:highlight>
                <a:latin typeface="Montserrat"/>
                <a:ea typeface="Montserrat"/>
                <a:cs typeface="Montserrat"/>
                <a:sym typeface="Montserrat"/>
              </a:rPr>
              <a:t>Sunking should l</a:t>
            </a:r>
            <a:r>
              <a:rPr lang="en-GB" sz="1600">
                <a:solidFill>
                  <a:schemeClr val="accent4"/>
                </a:solidFill>
                <a:highlight>
                  <a:schemeClr val="dk1"/>
                </a:highlight>
                <a:latin typeface="Montserrat"/>
                <a:ea typeface="Montserrat"/>
                <a:cs typeface="Montserrat"/>
                <a:sym typeface="Montserrat"/>
              </a:rPr>
              <a:t>everage best practices from Area B to improve Area A repayment speed. Investigate operational, customer engagement, or credit management strategies driving higher early repayments in Area B and implement targeted interventions in Area A to improve portfolio performance.</a:t>
            </a:r>
            <a:endParaRPr sz="2400">
              <a:solidFill>
                <a:schemeClr val="accent4"/>
              </a:solidFill>
              <a:highlight>
                <a:schemeClr val="dk1"/>
              </a:highlight>
              <a:latin typeface="Montserrat"/>
              <a:ea typeface="Montserrat"/>
              <a:cs typeface="Montserrat"/>
              <a:sym typeface="Montserrat"/>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2" name="Shape 162"/>
        <p:cNvGrpSpPr/>
        <p:nvPr/>
      </p:nvGrpSpPr>
      <p:grpSpPr>
        <a:xfrm>
          <a:off x="0" y="0"/>
          <a:ext cx="0" cy="0"/>
          <a:chOff x="0" y="0"/>
          <a:chExt cx="0" cy="0"/>
        </a:xfrm>
      </p:grpSpPr>
      <p:sp>
        <p:nvSpPr>
          <p:cNvPr id="163" name="Google Shape;163;p24"/>
          <p:cNvSpPr txBox="1"/>
          <p:nvPr>
            <p:ph type="title"/>
          </p:nvPr>
        </p:nvSpPr>
        <p:spPr>
          <a:xfrm>
            <a:off x="203600" y="373275"/>
            <a:ext cx="7230300" cy="675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b="1" i="1" lang="en-GB" sz="1800">
                <a:solidFill>
                  <a:schemeClr val="accent4"/>
                </a:solidFill>
                <a:latin typeface="Montserrat"/>
                <a:ea typeface="Montserrat"/>
                <a:cs typeface="Montserrat"/>
                <a:sym typeface="Montserrat"/>
              </a:rPr>
              <a:t>Experiment conclusions</a:t>
            </a:r>
            <a:endParaRPr b="1" i="1" sz="1800">
              <a:solidFill>
                <a:schemeClr val="accent4"/>
              </a:solidFill>
              <a:latin typeface="Montserrat"/>
              <a:ea typeface="Montserrat"/>
              <a:cs typeface="Montserrat"/>
              <a:sym typeface="Montserrat"/>
            </a:endParaRPr>
          </a:p>
        </p:txBody>
      </p:sp>
      <p:sp>
        <p:nvSpPr>
          <p:cNvPr id="164" name="Google Shape;164;p24"/>
          <p:cNvSpPr txBox="1"/>
          <p:nvPr/>
        </p:nvSpPr>
        <p:spPr>
          <a:xfrm>
            <a:off x="728325" y="1230525"/>
            <a:ext cx="7584300" cy="34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accent4"/>
                </a:solidFill>
                <a:highlight>
                  <a:schemeClr val="dk1"/>
                </a:highlight>
                <a:latin typeface="Montserrat"/>
                <a:ea typeface="Montserrat"/>
                <a:cs typeface="Montserrat"/>
                <a:sym typeface="Montserrat"/>
              </a:rPr>
              <a:t>Both areas show a declining repayment speed trend across the weeks. Area B remains higher throughout, but this may reflect pre-existing differences rather than the experiment. The absence of a clear improvement in Area A specifically warrants </a:t>
            </a:r>
            <a:r>
              <a:rPr lang="en-GB" sz="1600">
                <a:solidFill>
                  <a:schemeClr val="accent4"/>
                </a:solidFill>
                <a:highlight>
                  <a:schemeClr val="dk1"/>
                </a:highlight>
                <a:latin typeface="Montserrat"/>
                <a:ea typeface="Montserrat"/>
                <a:cs typeface="Montserrat"/>
                <a:sym typeface="Montserrat"/>
              </a:rPr>
              <a:t>further</a:t>
            </a:r>
            <a:r>
              <a:rPr lang="en-GB" sz="1600">
                <a:solidFill>
                  <a:schemeClr val="accent4"/>
                </a:solidFill>
                <a:highlight>
                  <a:schemeClr val="dk1"/>
                </a:highlight>
                <a:latin typeface="Montserrat"/>
                <a:ea typeface="Montserrat"/>
                <a:cs typeface="Montserrat"/>
                <a:sym typeface="Montserrat"/>
              </a:rPr>
              <a:t> investigations on factors leading to the trend. </a:t>
            </a:r>
            <a:endParaRPr sz="1600">
              <a:solidFill>
                <a:schemeClr val="accent4"/>
              </a:solidFill>
              <a:highlight>
                <a:schemeClr val="dk1"/>
              </a:highlight>
              <a:latin typeface="Montserrat"/>
              <a:ea typeface="Montserrat"/>
              <a:cs typeface="Montserrat"/>
              <a:sym typeface="Montserrat"/>
            </a:endParaRPr>
          </a:p>
          <a:p>
            <a:pPr indent="0" lvl="0" marL="0" rtl="0" algn="l">
              <a:spcBef>
                <a:spcPts val="0"/>
              </a:spcBef>
              <a:spcAft>
                <a:spcPts val="0"/>
              </a:spcAft>
              <a:buNone/>
            </a:pPr>
            <a:r>
              <a:rPr lang="en-GB" sz="1600">
                <a:solidFill>
                  <a:schemeClr val="accent4"/>
                </a:solidFill>
                <a:highlight>
                  <a:schemeClr val="dk1"/>
                </a:highlight>
                <a:latin typeface="Montserrat"/>
                <a:ea typeface="Montserrat"/>
                <a:cs typeface="Montserrat"/>
                <a:sym typeface="Montserrat"/>
              </a:rPr>
              <a:t>Because accounts registered in Dec 2023–Feb 2024 are all aging together, it is difficult to isolate the experiment effect from the natural aging curve. A proper difference-in-differences analysis comparing pre/post registration cohorts in treated vs control areas would be needed for a valid causal conclusion. The data does not cleanly separate treatment from control within the same area, so no strong conclusion about causality can be drawn from this analysis alone.</a:t>
            </a:r>
            <a:endParaRPr sz="1600">
              <a:solidFill>
                <a:schemeClr val="accent4"/>
              </a:solidFill>
              <a:highlight>
                <a:schemeClr val="dk1"/>
              </a:highlight>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214325" y="2714625"/>
            <a:ext cx="7157700" cy="1460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4500"/>
              <a:buFont typeface="Arial Black"/>
              <a:buNone/>
            </a:pPr>
            <a:r>
              <a:rPr lang="en-GB" sz="3600">
                <a:solidFill>
                  <a:schemeClr val="accent6"/>
                </a:solidFill>
                <a:latin typeface="Montserrat"/>
                <a:ea typeface="Montserrat"/>
                <a:cs typeface="Montserrat"/>
                <a:sym typeface="Montserrat"/>
              </a:rPr>
              <a:t>A/B Test Design for PAYG Payment Compliance</a:t>
            </a:r>
            <a:endParaRPr sz="3600">
              <a:solidFill>
                <a:schemeClr val="accent6"/>
              </a:solidFill>
              <a:latin typeface="Montserrat"/>
              <a:ea typeface="Montserrat"/>
              <a:cs typeface="Montserrat"/>
              <a:sym typeface="Montserrat"/>
            </a:endParaRPr>
          </a:p>
        </p:txBody>
      </p:sp>
      <p:sp>
        <p:nvSpPr>
          <p:cNvPr id="170" name="Google Shape;170;p25"/>
          <p:cNvSpPr txBox="1"/>
          <p:nvPr/>
        </p:nvSpPr>
        <p:spPr>
          <a:xfrm>
            <a:off x="573550" y="4457125"/>
            <a:ext cx="67986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accent6"/>
                </a:solidFill>
                <a:latin typeface="Montserrat"/>
                <a:ea typeface="Montserrat"/>
                <a:cs typeface="Montserrat"/>
                <a:sym typeface="Montserrat"/>
              </a:rPr>
              <a:t>A detailed A/B test design can be found in this </a:t>
            </a:r>
            <a:r>
              <a:rPr lang="en-GB" sz="1800" u="sng">
                <a:solidFill>
                  <a:schemeClr val="hlink"/>
                </a:solidFill>
                <a:latin typeface="Montserrat"/>
                <a:ea typeface="Montserrat"/>
                <a:cs typeface="Montserrat"/>
                <a:sym typeface="Montserrat"/>
                <a:hlinkClick r:id="rId3"/>
              </a:rPr>
              <a:t>report</a:t>
            </a:r>
            <a:endParaRPr sz="1800">
              <a:solidFill>
                <a:schemeClr val="accent6"/>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